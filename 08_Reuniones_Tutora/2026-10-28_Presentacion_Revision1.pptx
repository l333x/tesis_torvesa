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aa6502f-4214-feeb-2e0f-fc5128d276b1}">
          <p14:sldIdLst>
            <p14:sldId id="256"/>
            <p14:sldId id="257"/>
          </p14:sldIdLst>
        </p14:section>
        <p14:section name="Capítulo I" id="{89ad634f-28d0-90b1-7d23-587b9ab45055}">
          <p14:sldIdLst>
            <p14:sldId id="258"/>
            <p14:sldId id="259"/>
          </p14:sldIdLst>
        </p14:section>
        <p14:section name="Capítulos II y III" id="{56bd4b2d-27ad-74f7-009e-329161ead8fe}">
          <p14:sldIdLst>
            <p14:sldId id="260"/>
            <p14:sldId id="261"/>
            <p14:sldId id="262"/>
          </p14:sldIdLst>
        </p14:section>
        <p14:section name="Avance de diseño" id="{ff0988a7-1393-5d5b-ad22-efd36f2ed998}">
          <p14:sldIdLst>
            <p14:sldId id="263"/>
            <p14:sldId id="264"/>
            <p14:sldId id="265"/>
          </p14:sldIdLst>
        </p14:section>
        <p14:section name="Plan y decisiones" id="{bf40f57f-6ae6-07cb-3075-8ab7e2a71010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33"/>
                </a:solidFill>
                <a:latin typeface="+mn-lt"/>
              </a:rPr>
              <a:t>42 afirmaciones del borrador, por estado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Afirmaciones</c:v>
                </c:pt>
              </c:strCache>
            </c:strRef>
          </c:tx>
          <c:spPr>
            <a:solidFill>
              <a:srgbClr val="2E6F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B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1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4A5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C2C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Respaldadas</c:v>
                  </c:pt>
                  <c:pt idx="1">
                    <c:v>Parciales</c:v>
                  </c:pt>
                  <c:pt idx="2">
                    <c:v>Reformular</c:v>
                  </c:pt>
                  <c:pt idx="3">
                    <c:v>Se miden en campo</c:v>
                  </c:pt>
                  <c:pt idx="4">
                    <c:v>No se usan</c:v>
                  </c:pt>
                  <c:pt idx="5">
                    <c:v>Sin fuente aún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 saluda, presenta el tema y dice qué se trae hoy: capítulos I a III en versión 0.2, estado de las fuentes, el proceso actual que dibujó Diego y las decisiones que necesitamos de la tutora.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un minuto. Mensaje: hay avance de escritorio sólido y verificado; lo que falta es el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describir el problema sin cifras de Torvesa (todavía no medidas). Recalcar que se quitaron los datos simulados y los «30–44 minutos» del diseño aprobado. Fuente del flujo: Informe Final del proyecto integrador (22-jul).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leer solo el objetivo general y los verbos de los OE. Pedir el visto bueno a la precisión de OE3 al final, en la diapositiva de decisiones.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DSR como marco (Tuunanen et al., 2024); Design Thinking y Scrum dentro. Dos censos (D4). Recordar que el nombre del diseño de un solo grupo es una de las decisiones (DEC-19).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un minuto. Cada nodo es una sección del capítulo II con fuentes verificadas. Contexto: adopción de IA (McKinsey, OCDE), construcción poco digitalizada, Ecuador (BCE, CEPAL). Antecedente propio: TEAMSLASH, sin cifras (DEC-17).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«Verificada» = abierta, con el dato y la página. Las 7 sin fuente esperan PDF de la biblioteca UPS (Ohiomah 2019, Habel 2025, Rodriguez y Boyer 2020) y el texto de métodos. A23: AlQershi et al. (2020) no dice que «solo» las dimensiones tecnológica y organizativa afecten el desempeño.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Diego: notación BPMN 2.0 con un carril por rol. Cada punto de pérdida se liga a una meta: 1 y 2 con M1 y M3, 3 con M2, 5 con M4. El punto 4 (seguimiento) no tiene meta propia: es una duda abierta. Preguntas de validación en la entrevista I3: canales de entrada, visita a obra, quién aprueba la cotización.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Diego: la puntuación no decide sola. Falta el visto bueno de Víctor sobre los pesos y sobre el LLM. Pregunta para la tutora: ¿el CRM comercial entra en el diseño o se mantiene TEAMSLASH como CRM?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Diego: el documento sigue la plantilla de la asignatura. Iteración 1 = proyecto integrador (censo n = 5, prueba del MVP con 10 envíos y el botón Ver ficha). Iteración 2 = tesis. 14 requerimientos funcionales, 4 de calidad, 4 normativos y 1 del proyecto. Conflictos clave: el canal WhatsApp frente al formulario, los estados de la solicitud y la IA en la nube frente a los datos personales. El módulo de avance de obra queda fuera del alcance (5 porqués). Línea base 1.0 después del taller con Torvesa.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fechas del cronograma (sprints semanales). Entrega D5, escenario B: el 4-ene-2027 el documento final completo, listo para la revisión de la tutora.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el riesgo principal es el primero. Pedir a la tutora, si hace falta, una carta de respaldo para Torvesa.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leer cada pregunta y anotar la respuesta. Las respuestas van al acta de la Revisión 1 (decisiones DEC-18, DEC-19, DEC-20, DEC-06 a DEC-11 y el alcance del CRM).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Revisión 1 · Tesis Torvesa · 28-oct-2026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Revisión 1 · Tesis Torvesa · 28-oct-2026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Diseño de un sistema de automatización para la gestión comercial en la Constructora Torvesa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Revisión 1 con la tutora · avance de los capítulos I a III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Víctor Segura Heredia · Diego Bermeo Torres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Tutora: Ing. Tania Chicaiza · Negocios Digitales, UPS Quito · 28 de octubre de 2026</a:t>
            </a:r>
            <a:endParaRPr lang="en-US" sz="1800" dirty="0"/>
          </a:p>
        </p:txBody>
      </p:sp>
      <p:sp>
        <p:nvSpPr>
          <p:cNvPr id="4" name="motivo_portada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traemos hoy</a:t>
            </a:r>
            <a:endParaRPr lang="en-US" sz="3200" dirty="0"/>
          </a:p>
        </p:txBody>
      </p:sp>
      <p:sp>
        <p:nvSpPr>
          <p:cNvPr id="3" name="tarjeta_1"/>
          <p:cNvSpPr/>
          <p:nvPr/>
        </p:nvSpPr>
        <p:spPr>
          <a:xfrm>
            <a:off x="548640" y="1463040"/>
            <a:ext cx="2606040" cy="38404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240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capítulos en borrador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(problema y objetivos), II (marco teórico) y III (metodología), versión 0.2</a:t>
            </a:r>
            <a:endParaRPr lang="en-US" sz="1400" dirty="0"/>
          </a:p>
        </p:txBody>
      </p:sp>
      <p:sp>
        <p:nvSpPr>
          <p:cNvPr id="7" name="tarjeta_2"/>
          <p:cNvSpPr/>
          <p:nvPr/>
        </p:nvSpPr>
        <p:spPr>
          <a:xfrm>
            <a:off x="3364992" y="1463040"/>
            <a:ext cx="2606040" cy="38404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7872" y="1737360"/>
            <a:ext cx="2240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fuentes verificadas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abiertas, con el dato y la página anotados</a:t>
            </a:r>
            <a:endParaRPr lang="en-US" sz="1400" dirty="0"/>
          </a:p>
        </p:txBody>
      </p:sp>
      <p:sp>
        <p:nvSpPr>
          <p:cNvPr id="11" name="tarjeta_3"/>
          <p:cNvSpPr/>
          <p:nvPr/>
        </p:nvSpPr>
        <p:spPr>
          <a:xfrm>
            <a:off x="6181344" y="1463040"/>
            <a:ext cx="2606040" cy="38404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64224" y="1737360"/>
            <a:ext cx="2240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42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afirmaciones respaldadas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 todavía sin fuente; nada se cita sin verificar</a:t>
            </a:r>
            <a:endParaRPr lang="en-US" sz="1400" dirty="0"/>
          </a:p>
        </p:txBody>
      </p:sp>
      <p:sp>
        <p:nvSpPr>
          <p:cNvPr id="15" name="tarjeta_4"/>
          <p:cNvSpPr/>
          <p:nvPr/>
        </p:nvSpPr>
        <p:spPr>
          <a:xfrm>
            <a:off x="8997696" y="1463040"/>
            <a:ext cx="2606040" cy="38404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0576" y="1737360"/>
            <a:ext cx="2240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insumos de diseño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proceso actual (AS-IS) en BPMN e inventario de herramientas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Lo que falta para el capítulo IV depende del trabajo de campo en Torvesa (línea base real).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problema: la atención depende de una persona</a:t>
            </a:r>
            <a:endParaRPr lang="en-US" sz="3200" dirty="0"/>
          </a:p>
        </p:txBody>
      </p:sp>
      <p:sp>
        <p:nvSpPr>
          <p:cNvPr id="3" name="circulo_1_5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5852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solicitud llega al WhatsApp personal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 un socio o ingeniero, que suele estar en obra</a:t>
            </a:r>
            <a:endParaRPr lang="en-US" sz="1500" dirty="0"/>
          </a:p>
        </p:txBody>
      </p:sp>
      <p:sp>
        <p:nvSpPr>
          <p:cNvPr id="7" name="circulo_2_6"/>
          <p:cNvSpPr/>
          <p:nvPr/>
        </p:nvSpPr>
        <p:spPr>
          <a:xfrm>
            <a:off x="548640" y="253288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41448"/>
            <a:ext cx="5852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Nadie la ve hasta que alguien revisa el celular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52928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solicitud queda horas o días sin atender</a:t>
            </a:r>
            <a:endParaRPr lang="en-US" sz="1500" dirty="0"/>
          </a:p>
        </p:txBody>
      </p:sp>
      <p:sp>
        <p:nvSpPr>
          <p:cNvPr id="11" name="circulo_3_7"/>
          <p:cNvSpPr/>
          <p:nvPr/>
        </p:nvSpPr>
        <p:spPr>
          <a:xfrm>
            <a:off x="548640" y="3557016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570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65576"/>
            <a:ext cx="5852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cotización se arma casi desde cero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77056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las anteriores están dispersas en celulares y archivos</a:t>
            </a:r>
            <a:endParaRPr lang="en-US" sz="1500" dirty="0"/>
          </a:p>
        </p:txBody>
      </p:sp>
      <p:sp>
        <p:nvSpPr>
          <p:cNvPr id="15" name="circulo_4_8"/>
          <p:cNvSpPr/>
          <p:nvPr/>
        </p:nvSpPr>
        <p:spPr>
          <a:xfrm>
            <a:off x="548640" y="4581144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5811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489704"/>
            <a:ext cx="5852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 historial vive en la memoria del vendedor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01184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 se va o está sin señal, la empresa lo pierde («amnesia institucional»)</a:t>
            </a:r>
            <a:endParaRPr lang="en-US" sz="1500" dirty="0"/>
          </a:p>
        </p:txBody>
      </p:sp>
      <p:sp>
        <p:nvSpPr>
          <p:cNvPr id="19" name="tarjeta_9"/>
          <p:cNvSpPr/>
          <p:nvPr/>
        </p:nvSpPr>
        <p:spPr>
          <a:xfrm>
            <a:off x="7635240" y="1417320"/>
            <a:ext cx="3977640" cy="4023360"/>
          </a:xfrm>
          <a:prstGeom prst="roundRect">
            <a:avLst>
              <a:gd name="adj" fmla="val 1839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0" y="1600200"/>
            <a:ext cx="356616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Lo que es y lo que no 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Problema tecnológico: no hay una herramienta que conserve el conocimiento comercial y lo ponga a mano del vendedor.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Dotación de personal y cargas de trabajo: decisión de la gerencia, fuera del alcance.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Cuánto tarda hoy la respuesta y la cotización aún no se ha medido: se mide en campo.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Pregunta: ¿cómo diseñar un sistema que permita a Torvesa responder en el menor tiempo, dar continuidad a la atención y conservar un historial verificable de cada cliente?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Objetivo general y objetivos específicos</a:t>
            </a:r>
            <a:endParaRPr lang="en-US" sz="3200" dirty="0"/>
          </a:p>
        </p:txBody>
      </p:sp>
      <p:sp>
        <p:nvSpPr>
          <p:cNvPr id="3" name="tarjeta_10"/>
          <p:cNvSpPr/>
          <p:nvPr/>
        </p:nvSpPr>
        <p:spPr>
          <a:xfrm>
            <a:off x="548640" y="132588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Objetivo general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Diseñar un sistema de automatización para la gestión comercial de Torvesa (CRM móvil TEAMSLASH + bóveda de conocimiento + asistente de IA + registro verificable) y validarlo en una operación experimental controlada de dos semanas.</a:t>
            </a:r>
            <a:endParaRPr lang="en-US" sz="1500" dirty="0"/>
          </a:p>
        </p:txBody>
      </p:sp>
      <p:sp>
        <p:nvSpPr>
          <p:cNvPr id="5" name="tarjeta_11"/>
          <p:cNvSpPr/>
          <p:nvPr/>
        </p:nvSpPr>
        <p:spPr>
          <a:xfrm>
            <a:off x="548640" y="2697480"/>
            <a:ext cx="2066544" cy="28346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6" name="circulo_OE1_12"/>
          <p:cNvSpPr/>
          <p:nvPr/>
        </p:nvSpPr>
        <p:spPr>
          <a:xfrm>
            <a:off x="731520" y="2880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OE1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Diagnosticar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69080"/>
            <a:ext cx="1737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procesos actuales (AS-IS) y línea base real</a:t>
            </a:r>
            <a:endParaRPr lang="en-US" sz="1400" dirty="0"/>
          </a:p>
        </p:txBody>
      </p:sp>
      <p:sp>
        <p:nvSpPr>
          <p:cNvPr id="10" name="tarjeta_13"/>
          <p:cNvSpPr/>
          <p:nvPr/>
        </p:nvSpPr>
        <p:spPr>
          <a:xfrm>
            <a:off x="2798064" y="2697480"/>
            <a:ext cx="2066544" cy="28346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11" name="circulo_OE2_14"/>
          <p:cNvSpPr/>
          <p:nvPr/>
        </p:nvSpPr>
        <p:spPr>
          <a:xfrm>
            <a:off x="2980944" y="2880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80944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OE2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Diseñar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4069080"/>
            <a:ext cx="1737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arquitectura, procesos TO-BE, requisitos, VAN y TIR, controles LOPDP</a:t>
            </a:r>
            <a:endParaRPr lang="en-US" sz="1400" dirty="0"/>
          </a:p>
        </p:txBody>
      </p:sp>
      <p:sp>
        <p:nvSpPr>
          <p:cNvPr id="15" name="tarjeta_15"/>
          <p:cNvSpPr/>
          <p:nvPr/>
        </p:nvSpPr>
        <p:spPr>
          <a:xfrm>
            <a:off x="5047488" y="2697480"/>
            <a:ext cx="2066544" cy="2834640"/>
          </a:xfrm>
          <a:prstGeom prst="roundRect">
            <a:avLst>
              <a:gd name="adj" fmla="val 3540"/>
            </a:avLst>
          </a:prstGeom>
          <a:solidFill>
            <a:schemeClr val="accent5"/>
          </a:solidFill>
          <a:ln/>
        </p:spPr>
      </p:sp>
      <p:sp>
        <p:nvSpPr>
          <p:cNvPr id="16" name="circulo_OE3_16"/>
          <p:cNvSpPr/>
          <p:nvPr/>
        </p:nvSpPr>
        <p:spPr>
          <a:xfrm>
            <a:off x="5230368" y="2880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30368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OE3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Desarrollar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4069080"/>
            <a:ext cx="1737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prototipo funcional de los componentes, en sprints, sobre TEAMSLASH</a:t>
            </a:r>
            <a:endParaRPr lang="en-US" sz="1400" dirty="0"/>
          </a:p>
        </p:txBody>
      </p:sp>
      <p:sp>
        <p:nvSpPr>
          <p:cNvPr id="20" name="tarjeta_17"/>
          <p:cNvSpPr/>
          <p:nvPr/>
        </p:nvSpPr>
        <p:spPr>
          <a:xfrm>
            <a:off x="7296912" y="2697480"/>
            <a:ext cx="2066544" cy="28346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21" name="circulo_OE4_18"/>
          <p:cNvSpPr/>
          <p:nvPr/>
        </p:nvSpPr>
        <p:spPr>
          <a:xfrm>
            <a:off x="7479792" y="2880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79792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OE4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79792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Validar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79792" y="4069080"/>
            <a:ext cx="1737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cuatro casos de prueba y dos semanas de operación experimental controlada</a:t>
            </a:r>
            <a:endParaRPr lang="en-US" sz="1400" dirty="0"/>
          </a:p>
        </p:txBody>
      </p:sp>
      <p:sp>
        <p:nvSpPr>
          <p:cNvPr id="25" name="tarjeta_19"/>
          <p:cNvSpPr/>
          <p:nvPr/>
        </p:nvSpPr>
        <p:spPr>
          <a:xfrm>
            <a:off x="9546336" y="2697480"/>
            <a:ext cx="2066544" cy="28346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26" name="circulo_OE5_20"/>
          <p:cNvSpPr/>
          <p:nvPr/>
        </p:nvSpPr>
        <p:spPr>
          <a:xfrm>
            <a:off x="9729216" y="2880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729216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OE5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Documentar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729216" y="4069080"/>
            <a:ext cx="1737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manual de operación, gobierno de la información y transferencia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OE3: proponemos precisar «desarrollar un prototipo funcional de los componentes» (decisión DEC-18, para su visto bueno).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Metodología: investigación en ciencia del diseño (DSR)</a:t>
            </a:r>
            <a:endParaRPr lang="en-US" sz="3200" dirty="0"/>
          </a:p>
        </p:txBody>
      </p:sp>
      <p:sp>
        <p:nvSpPr>
          <p:cNvPr id="3" name="fase_dsr_0"/>
          <p:cNvSpPr/>
          <p:nvPr/>
        </p:nvSpPr>
        <p:spPr>
          <a:xfrm>
            <a:off x="548640" y="1371600"/>
            <a:ext cx="1783080" cy="86868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Problema</a:t>
            </a:r>
            <a:endParaRPr lang="en-US" sz="1200" dirty="0"/>
          </a:p>
        </p:txBody>
      </p:sp>
      <p:sp>
        <p:nvSpPr>
          <p:cNvPr id="5" name="fase_dsr_1"/>
          <p:cNvSpPr/>
          <p:nvPr/>
        </p:nvSpPr>
        <p:spPr>
          <a:xfrm>
            <a:off x="2404872" y="1371600"/>
            <a:ext cx="1783080" cy="8686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88920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Objetivos de la solución</a:t>
            </a:r>
            <a:endParaRPr lang="en-US" sz="1200" dirty="0"/>
          </a:p>
        </p:txBody>
      </p:sp>
      <p:sp>
        <p:nvSpPr>
          <p:cNvPr id="7" name="fase_dsr_2"/>
          <p:cNvSpPr/>
          <p:nvPr/>
        </p:nvSpPr>
        <p:spPr>
          <a:xfrm>
            <a:off x="4261104" y="1371600"/>
            <a:ext cx="1783080" cy="86868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5152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Diseño y desarrollo</a:t>
            </a:r>
            <a:endParaRPr lang="en-US" sz="1200" dirty="0"/>
          </a:p>
        </p:txBody>
      </p:sp>
      <p:sp>
        <p:nvSpPr>
          <p:cNvPr id="9" name="fase_dsr_3"/>
          <p:cNvSpPr/>
          <p:nvPr/>
        </p:nvSpPr>
        <p:spPr>
          <a:xfrm>
            <a:off x="6117336" y="1371600"/>
            <a:ext cx="1783080" cy="8686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1384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Demostración</a:t>
            </a:r>
            <a:endParaRPr lang="en-US" sz="1200" dirty="0"/>
          </a:p>
        </p:txBody>
      </p:sp>
      <p:sp>
        <p:nvSpPr>
          <p:cNvPr id="11" name="fase_dsr_4"/>
          <p:cNvSpPr/>
          <p:nvPr/>
        </p:nvSpPr>
        <p:spPr>
          <a:xfrm>
            <a:off x="7973568" y="1371600"/>
            <a:ext cx="1783080" cy="86868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57616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Evaluación</a:t>
            </a:r>
            <a:endParaRPr lang="en-US" sz="1200" dirty="0"/>
          </a:p>
        </p:txBody>
      </p:sp>
      <p:sp>
        <p:nvSpPr>
          <p:cNvPr id="13" name="fase_dsr_5"/>
          <p:cNvSpPr/>
          <p:nvPr/>
        </p:nvSpPr>
        <p:spPr>
          <a:xfrm>
            <a:off x="9829800" y="1371600"/>
            <a:ext cx="1783080" cy="8686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13848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Comunicación</a:t>
            </a:r>
            <a:endParaRPr lang="en-US" sz="1200" dirty="0"/>
          </a:p>
        </p:txBody>
      </p:sp>
      <p:sp>
        <p:nvSpPr>
          <p:cNvPr id="15" name="tarjeta_21"/>
          <p:cNvSpPr/>
          <p:nvPr/>
        </p:nvSpPr>
        <p:spPr>
          <a:xfrm>
            <a:off x="548640" y="2606040"/>
            <a:ext cx="35661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Cómo se trabaja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00400"/>
            <a:ext cx="3200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Design Thinking para diseñar con el usuario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Scrum para organizar el trabajo en sprints semanales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Enfoque mixto con predominio cuantitativo</a:t>
            </a:r>
            <a:endParaRPr lang="en-US" sz="1500" dirty="0"/>
          </a:p>
        </p:txBody>
      </p:sp>
      <p:sp>
        <p:nvSpPr>
          <p:cNvPr id="18" name="tarjeta_22"/>
          <p:cNvSpPr/>
          <p:nvPr/>
        </p:nvSpPr>
        <p:spPr>
          <a:xfrm>
            <a:off x="4297680" y="2606040"/>
            <a:ext cx="35661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 quién se estudia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200400"/>
            <a:ext cx="3200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Censo de los 30 colaboradores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Censo de los 33 clientes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Todas las solicitudes que entren durante la validación</a:t>
            </a:r>
            <a:endParaRPr lang="en-US" sz="1500" dirty="0"/>
          </a:p>
        </p:txBody>
      </p:sp>
      <p:sp>
        <p:nvSpPr>
          <p:cNvPr id="21" name="tarjeta_23"/>
          <p:cNvSpPr/>
          <p:nvPr/>
        </p:nvSpPr>
        <p:spPr>
          <a:xfrm>
            <a:off x="8046720" y="2606040"/>
            <a:ext cx="35661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Con qué instrumentos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200400"/>
            <a:ext cx="3200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Encuestas a colaboradores (con SUS en español) y a clientes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Entrevistas a 3–5 personas de gerencia y ventas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Cronometraje de cotizaciones y revisión de solicitudes (solo fechas y horas)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Comparación antes y después en un solo grupo, con pruebas no paramétricas. Consentimiento informado y LOPDP en cada instrumento.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Marco teórico: seis ideas que sostienen el diseño</a:t>
            </a:r>
            <a:endParaRPr lang="en-US" sz="3200" dirty="0"/>
          </a:p>
        </p:txBody>
      </p:sp>
      <p:sp>
        <p:nvSpPr>
          <p:cNvPr id="3" name="conector_24"/>
          <p:cNvSpPr/>
          <p:nvPr/>
        </p:nvSpPr>
        <p:spPr>
          <a:xfrm>
            <a:off x="2103120" y="1828800"/>
            <a:ext cx="3995928" cy="1874520"/>
          </a:xfrm>
          <a:prstGeom prst="line">
            <a:avLst/>
          </a:prstGeom>
          <a:noFill/>
          <a:ln w="15875">
            <a:solidFill>
              <a:srgbClr val="8A9BA8"/>
            </a:solidFill>
            <a:prstDash val="solid"/>
          </a:ln>
        </p:spPr>
      </p:sp>
      <p:sp>
        <p:nvSpPr>
          <p:cNvPr id="4" name="conector_25"/>
          <p:cNvSpPr/>
          <p:nvPr/>
        </p:nvSpPr>
        <p:spPr>
          <a:xfrm>
            <a:off x="6099048" y="1828800"/>
            <a:ext cx="0" cy="1874520"/>
          </a:xfrm>
          <a:prstGeom prst="line">
            <a:avLst/>
          </a:prstGeom>
          <a:noFill/>
          <a:ln w="15875">
            <a:solidFill>
              <a:srgbClr val="8A9BA8"/>
            </a:solidFill>
            <a:prstDash val="solid"/>
          </a:ln>
        </p:spPr>
      </p:sp>
      <p:sp>
        <p:nvSpPr>
          <p:cNvPr id="5" name="conector_26"/>
          <p:cNvSpPr/>
          <p:nvPr/>
        </p:nvSpPr>
        <p:spPr>
          <a:xfrm flipH="1">
            <a:off x="6099048" y="1828800"/>
            <a:ext cx="3986784" cy="1874520"/>
          </a:xfrm>
          <a:prstGeom prst="line">
            <a:avLst/>
          </a:prstGeom>
          <a:noFill/>
          <a:ln w="15875">
            <a:solidFill>
              <a:srgbClr val="8A9BA8"/>
            </a:solidFill>
            <a:prstDash val="solid"/>
          </a:ln>
        </p:spPr>
      </p:sp>
      <p:sp>
        <p:nvSpPr>
          <p:cNvPr id="6" name="conector_27"/>
          <p:cNvSpPr/>
          <p:nvPr/>
        </p:nvSpPr>
        <p:spPr>
          <a:xfrm>
            <a:off x="2103120" y="3703320"/>
            <a:ext cx="3995928" cy="1600200"/>
          </a:xfrm>
          <a:prstGeom prst="line">
            <a:avLst/>
          </a:prstGeom>
          <a:noFill/>
          <a:ln w="15875">
            <a:solidFill>
              <a:srgbClr val="8A9BA8"/>
            </a:solidFill>
            <a:prstDash val="solid"/>
          </a:ln>
        </p:spPr>
      </p:sp>
      <p:sp>
        <p:nvSpPr>
          <p:cNvPr id="7" name="conector_28"/>
          <p:cNvSpPr/>
          <p:nvPr/>
        </p:nvSpPr>
        <p:spPr>
          <a:xfrm>
            <a:off x="6099048" y="3703320"/>
            <a:ext cx="0" cy="1600200"/>
          </a:xfrm>
          <a:prstGeom prst="line">
            <a:avLst/>
          </a:prstGeom>
          <a:noFill/>
          <a:ln w="15875">
            <a:solidFill>
              <a:srgbClr val="8A9BA8"/>
            </a:solidFill>
            <a:prstDash val="solid"/>
          </a:ln>
        </p:spPr>
      </p:sp>
      <p:sp>
        <p:nvSpPr>
          <p:cNvPr id="8" name="conector_29"/>
          <p:cNvSpPr/>
          <p:nvPr/>
        </p:nvSpPr>
        <p:spPr>
          <a:xfrm flipH="1">
            <a:off x="6099048" y="3703320"/>
            <a:ext cx="3986784" cy="1600200"/>
          </a:xfrm>
          <a:prstGeom prst="line">
            <a:avLst/>
          </a:prstGeom>
          <a:noFill/>
          <a:ln w="15875">
            <a:solidFill>
              <a:srgbClr val="8A9BA8"/>
            </a:solidFill>
            <a:prstDash val="solid"/>
          </a:ln>
        </p:spPr>
      </p:sp>
      <p:sp>
        <p:nvSpPr>
          <p:cNvPr id="9" name="tarjeta_30"/>
          <p:cNvSpPr/>
          <p:nvPr/>
        </p:nvSpPr>
        <p:spPr>
          <a:xfrm>
            <a:off x="548640" y="137160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37160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Gestión de clientes (CRM) y de prospectos</a:t>
            </a:r>
            <a:endParaRPr lang="en-US" sz="1500" dirty="0"/>
          </a:p>
        </p:txBody>
      </p:sp>
      <p:sp>
        <p:nvSpPr>
          <p:cNvPr id="11" name="tarjeta_31"/>
          <p:cNvSpPr/>
          <p:nvPr/>
        </p:nvSpPr>
        <p:spPr>
          <a:xfrm>
            <a:off x="4544568" y="137160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137160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Tiempo de respuesta al prospecto</a:t>
            </a:r>
            <a:endParaRPr lang="en-US" sz="1500" dirty="0"/>
          </a:p>
        </p:txBody>
      </p:sp>
      <p:sp>
        <p:nvSpPr>
          <p:cNvPr id="13" name="tarjeta_32"/>
          <p:cNvSpPr/>
          <p:nvPr/>
        </p:nvSpPr>
        <p:spPr>
          <a:xfrm>
            <a:off x="8531352" y="137160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68512" y="137160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Gestión del conocimiento y memoria organizacional</a:t>
            </a:r>
            <a:endParaRPr lang="en-US" sz="1500" dirty="0"/>
          </a:p>
        </p:txBody>
      </p:sp>
      <p:sp>
        <p:nvSpPr>
          <p:cNvPr id="15" name="tarjeta_33"/>
          <p:cNvSpPr/>
          <p:nvPr/>
        </p:nvSpPr>
        <p:spPr>
          <a:xfrm>
            <a:off x="548640" y="484632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IA con recuperación de documentos propios (RAG)</a:t>
            </a:r>
            <a:endParaRPr lang="en-US" sz="1500" dirty="0"/>
          </a:p>
        </p:txBody>
      </p:sp>
      <p:sp>
        <p:nvSpPr>
          <p:cNvPr id="17" name="tarjeta_34"/>
          <p:cNvSpPr/>
          <p:nvPr/>
        </p:nvSpPr>
        <p:spPr>
          <a:xfrm>
            <a:off x="4544568" y="484632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81728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Registro verificable (SHA-256)</a:t>
            </a:r>
            <a:endParaRPr lang="en-US" sz="1500" dirty="0"/>
          </a:p>
        </p:txBody>
      </p:sp>
      <p:sp>
        <p:nvSpPr>
          <p:cNvPr id="19" name="tarjeta_35"/>
          <p:cNvSpPr/>
          <p:nvPr/>
        </p:nvSpPr>
        <p:spPr>
          <a:xfrm>
            <a:off x="8531352" y="484632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68512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Usabilidad (SUS) y protección de datos (LOPDP)</a:t>
            </a:r>
            <a:endParaRPr lang="en-US" sz="1500" dirty="0"/>
          </a:p>
        </p:txBody>
      </p:sp>
      <p:sp>
        <p:nvSpPr>
          <p:cNvPr id="21" name="nucleo"/>
          <p:cNvSpPr/>
          <p:nvPr/>
        </p:nvSpPr>
        <p:spPr>
          <a:xfrm>
            <a:off x="4681728" y="3017520"/>
            <a:ext cx="2834640" cy="1371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18888" y="3063240"/>
            <a:ext cx="25603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Sistema para la atención comercial de Torvesa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Estado de las fuentes: matriz de afirmaciones v0.4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36"/>
          <p:cNvSpPr/>
          <p:nvPr/>
        </p:nvSpPr>
        <p:spPr>
          <a:xfrm>
            <a:off x="7680960" y="132588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863840" y="1371600"/>
            <a:ext cx="3566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fuentes verificadas (con dato y página)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3108960"/>
            <a:ext cx="39319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Lo que la evidencia corrigió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Fuera los datos simulados del diagnóstico.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ventana de «5 a 15 minutos» no tiene respaldo: la meta de 15 minutos es una decisión de diseño.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afirmación sobre CRM contradice su fuente: se reformula.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Proceso actual (AS-IS) de atención a un cliente</a:t>
            </a:r>
            <a:endParaRPr lang="en-US" sz="3200" dirty="0"/>
          </a:p>
        </p:txBody>
      </p:sp>
      <p:sp>
        <p:nvSpPr>
          <p:cNvPr id="3" name="tarjeta_37"/>
          <p:cNvSpPr/>
          <p:nvPr/>
        </p:nvSpPr>
        <p:spPr>
          <a:xfrm>
            <a:off x="548640" y="1325880"/>
            <a:ext cx="7863840" cy="3483504"/>
          </a:xfrm>
          <a:prstGeom prst="roundRect">
            <a:avLst>
              <a:gd name="adj" fmla="val 2100"/>
            </a:avLst>
          </a:prstGeom>
          <a:solidFill>
            <a:schemeClr val="bg2"/>
          </a:solidFill>
          <a:ln/>
        </p:spPr>
      </p:sp>
      <p:pic>
        <p:nvPicPr>
          <p:cNvPr id="4" name="Image 0" descr="Diagrama BPMN del proceso actual de atención a un cliente en Torvesa, con carriles por 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7589520" cy="3209184"/>
          </a:xfrm>
          <a:prstGeom prst="rect">
            <a:avLst/>
          </a:prstGeom>
        </p:spPr>
      </p:pic>
      <p:sp>
        <p:nvSpPr>
          <p:cNvPr id="5" name="sello_borrador"/>
          <p:cNvSpPr/>
          <p:nvPr/>
        </p:nvSpPr>
        <p:spPr>
          <a:xfrm>
            <a:off x="548640" y="498348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98348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Borrador, sin validar en campo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3212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Armado con el Informe Final del proyecto integrador; se valida con entrevistas y observación en Torvesa.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132588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Dónde se pierde tiempo o información</a:t>
            </a:r>
            <a:endParaRPr lang="en-US" sz="1700" dirty="0"/>
          </a:p>
        </p:txBody>
      </p:sp>
      <p:sp>
        <p:nvSpPr>
          <p:cNvPr id="9" name="circulo_1_38"/>
          <p:cNvSpPr/>
          <p:nvPr/>
        </p:nvSpPr>
        <p:spPr>
          <a:xfrm>
            <a:off x="8641080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41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Espera: nadie ve el mensaje</a:t>
            </a:r>
            <a:endParaRPr lang="en-US" sz="1400" dirty="0"/>
          </a:p>
        </p:txBody>
      </p:sp>
      <p:sp>
        <p:nvSpPr>
          <p:cNvPr id="12" name="circulo_2_39"/>
          <p:cNvSpPr/>
          <p:nvPr/>
        </p:nvSpPr>
        <p:spPr>
          <a:xfrm>
            <a:off x="8641080" y="2807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410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2761488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Asignación informal, sin rastro</a:t>
            </a:r>
            <a:endParaRPr lang="en-US" sz="1400" dirty="0"/>
          </a:p>
        </p:txBody>
      </p:sp>
      <p:sp>
        <p:nvSpPr>
          <p:cNvPr id="15" name="circulo_3_40"/>
          <p:cNvSpPr/>
          <p:nvPr/>
        </p:nvSpPr>
        <p:spPr>
          <a:xfrm>
            <a:off x="8641080" y="35570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410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3511296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Cotización desde cero</a:t>
            </a:r>
            <a:endParaRPr lang="en-US" sz="1400" dirty="0"/>
          </a:p>
        </p:txBody>
      </p:sp>
      <p:sp>
        <p:nvSpPr>
          <p:cNvPr id="18" name="circulo_4_41"/>
          <p:cNvSpPr/>
          <p:nvPr/>
        </p:nvSpPr>
        <p:spPr>
          <a:xfrm>
            <a:off x="8641080" y="43068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41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4261104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Seguimiento de memoria</a:t>
            </a:r>
            <a:endParaRPr lang="en-US" sz="1400" dirty="0"/>
          </a:p>
        </p:txBody>
      </p:sp>
      <p:sp>
        <p:nvSpPr>
          <p:cNvPr id="21" name="circulo_5_42"/>
          <p:cNvSpPr/>
          <p:nvPr/>
        </p:nvSpPr>
        <p:spPr>
          <a:xfrm>
            <a:off x="8641080" y="5056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4108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5010912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Historial en celulares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Herramientas candidatas: inventario v0.2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46304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A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puntuada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A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(0–3)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A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A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Bóveda de conocimiento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Obsidian (+ Sync)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para uso comercial, app móvil, archivos locales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Asistente de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entrena con los datos; ≈ USD 13 al mes (supuesto de 1 000 consultas)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con el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Business 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el canal por donde hoy llegan las solicitudes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Avisos internos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lo usa TEAMSLASH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(¿entra?)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Zoho CRM / Kommo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2,39 (empate)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 componente del diseño aprobado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rjeta_43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166360"/>
            <a:ext cx="106984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Ocho criterios con pesos propuestos; el de mayor peso es el tratamiento de datos personales (LOPDP). Precios de las páginas oficiales (25-oct-2026). Los costos son ilustrativos hasta tener datos de Torvesa.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Elicitación y análisis de requerimientos (v0.1)</a:t>
            </a:r>
            <a:endParaRPr lang="en-US" sz="3200" dirty="0"/>
          </a:p>
        </p:txBody>
      </p:sp>
      <p:sp>
        <p:nvSpPr>
          <p:cNvPr id="3" name="etapa_req_0"/>
          <p:cNvSpPr/>
          <p:nvPr/>
        </p:nvSpPr>
        <p:spPr>
          <a:xfrm>
            <a:off x="548640" y="1371600"/>
            <a:ext cx="2157984" cy="8229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Elicitación</a:t>
            </a:r>
            <a:endParaRPr lang="en-US" sz="1500" dirty="0"/>
          </a:p>
        </p:txBody>
      </p:sp>
      <p:sp>
        <p:nvSpPr>
          <p:cNvPr id="5" name="etapa_req_1"/>
          <p:cNvSpPr/>
          <p:nvPr/>
        </p:nvSpPr>
        <p:spPr>
          <a:xfrm>
            <a:off x="2779776" y="1371600"/>
            <a:ext cx="2157984" cy="8229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54096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Análisis</a:t>
            </a:r>
            <a:endParaRPr lang="en-US" sz="1500" dirty="0"/>
          </a:p>
        </p:txBody>
      </p:sp>
      <p:sp>
        <p:nvSpPr>
          <p:cNvPr id="7" name="etapa_req_2"/>
          <p:cNvSpPr/>
          <p:nvPr/>
        </p:nvSpPr>
        <p:spPr>
          <a:xfrm>
            <a:off x="5010912" y="1371600"/>
            <a:ext cx="2157984" cy="82296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85232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Especificación</a:t>
            </a:r>
            <a:endParaRPr lang="en-US" sz="1500" dirty="0"/>
          </a:p>
        </p:txBody>
      </p:sp>
      <p:sp>
        <p:nvSpPr>
          <p:cNvPr id="9" name="etapa_req_3"/>
          <p:cNvSpPr/>
          <p:nvPr/>
        </p:nvSpPr>
        <p:spPr>
          <a:xfrm>
            <a:off x="7242048" y="1371600"/>
            <a:ext cx="2157984" cy="82296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16368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Validación</a:t>
            </a:r>
            <a:endParaRPr lang="en-US" sz="1500" dirty="0"/>
          </a:p>
        </p:txBody>
      </p:sp>
      <p:sp>
        <p:nvSpPr>
          <p:cNvPr id="11" name="etapa_req_4"/>
          <p:cNvSpPr/>
          <p:nvPr/>
        </p:nvSpPr>
        <p:spPr>
          <a:xfrm>
            <a:off x="9473184" y="1371600"/>
            <a:ext cx="2157984" cy="82296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47504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Gestión</a:t>
            </a:r>
            <a:endParaRPr lang="en-US" sz="1500" dirty="0"/>
          </a:p>
        </p:txBody>
      </p:sp>
      <p:sp>
        <p:nvSpPr>
          <p:cNvPr id="13" name="circulo_1_44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560320"/>
            <a:ext cx="9966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Dos iteraciones (ISO/IEC/IEEE 29148 y SWEBOK v4)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971800"/>
            <a:ext cx="9966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TEAMSLASH: censo a 5 personas y prueba del MVP. Tesis: documentos, herramientas y proceso actual; el campo en Torvesa, al autorizarse.</a:t>
            </a:r>
            <a:endParaRPr lang="en-US" sz="1500" dirty="0"/>
          </a:p>
        </p:txBody>
      </p:sp>
      <p:sp>
        <p:nvSpPr>
          <p:cNvPr id="17" name="circulo_2_45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657600"/>
            <a:ext cx="9966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Versión 0.1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069080"/>
            <a:ext cx="9966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9 clases de interesados · 15 necesidades · 23 requerimientos priorizados · 6 conflictos por resolver.</a:t>
            </a:r>
            <a:endParaRPr lang="en-US" sz="1500" dirty="0"/>
          </a:p>
        </p:txBody>
      </p:sp>
      <p:sp>
        <p:nvSpPr>
          <p:cNvPr id="21" name="circulo_3_46"/>
          <p:cNvSpPr/>
          <p:nvPr/>
        </p:nvSpPr>
        <p:spPr>
          <a:xfrm>
            <a:off x="548640" y="4800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Trazable y por validar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166360"/>
            <a:ext cx="9966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Cada requerimiento va a una necesidad, a un interesado y a una meta (M1–M6). Se valida en un taller con la gerencia.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Cronograma hasta la entrega del 4 de enero de 2027</a:t>
            </a:r>
            <a:endParaRPr lang="en-US" sz="3200" dirty="0"/>
          </a:p>
        </p:txBody>
      </p:sp>
      <p:sp>
        <p:nvSpPr>
          <p:cNvPr id="3" name="linea_tiempo"/>
          <p:cNvSpPr/>
          <p:nvPr/>
        </p:nvSpPr>
        <p:spPr>
          <a:xfrm>
            <a:off x="1325880" y="3246120"/>
            <a:ext cx="9509760" cy="0"/>
          </a:xfrm>
          <a:prstGeom prst="line">
            <a:avLst/>
          </a:prstGeom>
          <a:noFill/>
          <a:ln w="25400">
            <a:solidFill>
              <a:srgbClr val="8A9BA8"/>
            </a:solidFill>
            <a:prstDash val="solid"/>
          </a:ln>
        </p:spPr>
      </p:sp>
      <p:sp>
        <p:nvSpPr>
          <p:cNvPr id="4" name="hito_0"/>
          <p:cNvSpPr/>
          <p:nvPr/>
        </p:nvSpPr>
        <p:spPr>
          <a:xfrm>
            <a:off x="1133856" y="3054096"/>
            <a:ext cx="384048" cy="38404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28-oct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Revisión 1</a:t>
            </a:r>
            <a:endParaRPr lang="en-US" sz="1300" dirty="0"/>
          </a:p>
        </p:txBody>
      </p:sp>
      <p:sp>
        <p:nvSpPr>
          <p:cNvPr id="7" name="hito_1"/>
          <p:cNvSpPr/>
          <p:nvPr/>
        </p:nvSpPr>
        <p:spPr>
          <a:xfrm>
            <a:off x="2547257" y="310896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52897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2–8 nov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52897" y="397764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Campo y línea base*; procesos TO-BE y requisitos</a:t>
            </a:r>
            <a:endParaRPr lang="en-US" sz="1300" dirty="0"/>
          </a:p>
        </p:txBody>
      </p:sp>
      <p:sp>
        <p:nvSpPr>
          <p:cNvPr id="10" name="hito_2"/>
          <p:cNvSpPr/>
          <p:nvPr/>
        </p:nvSpPr>
        <p:spPr>
          <a:xfrm>
            <a:off x="3905794" y="310896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1434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9–15 nov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11434" y="19659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Prueba de concepto y casos de prueba</a:t>
            </a:r>
            <a:endParaRPr lang="en-US" sz="1300" dirty="0"/>
          </a:p>
        </p:txBody>
      </p:sp>
      <p:sp>
        <p:nvSpPr>
          <p:cNvPr id="13" name="hito_3"/>
          <p:cNvSpPr/>
          <p:nvPr/>
        </p:nvSpPr>
        <p:spPr>
          <a:xfrm>
            <a:off x="5209467" y="3054096"/>
            <a:ext cx="384048" cy="38404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9971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≈ 18-nov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9971" y="397764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Revisión 2</a:t>
            </a:r>
            <a:endParaRPr lang="en-US" sz="1300" dirty="0"/>
          </a:p>
        </p:txBody>
      </p:sp>
      <p:sp>
        <p:nvSpPr>
          <p:cNvPr id="16" name="hito_4"/>
          <p:cNvSpPr/>
          <p:nvPr/>
        </p:nvSpPr>
        <p:spPr>
          <a:xfrm>
            <a:off x="6622869" y="310896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28509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23-nov – 5-dic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28509" y="19659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Validación del diseño en operación experimental controlada</a:t>
            </a:r>
            <a:endParaRPr lang="en-US" sz="1300" dirty="0"/>
          </a:p>
        </p:txBody>
      </p:sp>
      <p:sp>
        <p:nvSpPr>
          <p:cNvPr id="19" name="hito_5"/>
          <p:cNvSpPr/>
          <p:nvPr/>
        </p:nvSpPr>
        <p:spPr>
          <a:xfrm>
            <a:off x="7981406" y="310896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87046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7–13 dic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87046" y="397764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Medición posterior y análisis</a:t>
            </a:r>
            <a:endParaRPr lang="en-US" sz="1300" dirty="0"/>
          </a:p>
        </p:txBody>
      </p:sp>
      <p:sp>
        <p:nvSpPr>
          <p:cNvPr id="22" name="hito_6"/>
          <p:cNvSpPr/>
          <p:nvPr/>
        </p:nvSpPr>
        <p:spPr>
          <a:xfrm>
            <a:off x="9339943" y="310896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45583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18-dic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745583" y="19659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Tesis al 90 %</a:t>
            </a:r>
            <a:endParaRPr lang="en-US" sz="1300" dirty="0"/>
          </a:p>
        </p:txBody>
      </p:sp>
      <p:sp>
        <p:nvSpPr>
          <p:cNvPr id="25" name="hito_7"/>
          <p:cNvSpPr/>
          <p:nvPr/>
        </p:nvSpPr>
        <p:spPr>
          <a:xfrm>
            <a:off x="10643616" y="3054096"/>
            <a:ext cx="384048" cy="38404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0412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4-ene-2027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104120" y="397764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Documento final listo para su revisión</a:t>
            </a:r>
            <a:endParaRPr lang="en-US" sz="1300" dirty="0"/>
          </a:p>
        </p:txBody>
      </p:sp>
      <p:sp>
        <p:nvSpPr>
          <p:cNvPr id="28" name="tarjeta_47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5257800"/>
            <a:ext cx="10698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* El campo depende de la autorización de Torvesa. Si se retrasa, se corre la línea base, no la fecha de entrega (escenario B, ya acordado).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Riesgos y cómo los manejamos</a:t>
            </a:r>
            <a:endParaRPr lang="en-US" sz="3200" dirty="0"/>
          </a:p>
        </p:txBody>
      </p:sp>
      <p:sp>
        <p:nvSpPr>
          <p:cNvPr id="3" name="tarjeta_48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circulo_!_49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54480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Autorización de Torvesa para el campo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Sin campo no hay línea base ni capítulo IV.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5029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Diego gestiona los permisos; si no hay respuesta, llamada al gerente o carta de respaldo de la tutora.</a:t>
            </a:r>
            <a:endParaRPr lang="en-US" sz="1400" dirty="0"/>
          </a:p>
        </p:txBody>
      </p:sp>
      <p:sp>
        <p:nvSpPr>
          <p:cNvPr id="9" name="tarjeta_50"/>
          <p:cNvSpPr/>
          <p:nvPr/>
        </p:nvSpPr>
        <p:spPr>
          <a:xfrm>
            <a:off x="6172200" y="137160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circulo_!_51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554480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Fuentes que no se pueden abrir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7 afirmaciones siguen sin fuente.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560320"/>
            <a:ext cx="5029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Pedido a la biblioteca UPS; lo que no se verifique no se cita y la frase se reformula.</a:t>
            </a:r>
            <a:endParaRPr lang="en-US" sz="1400" dirty="0"/>
          </a:p>
        </p:txBody>
      </p:sp>
      <p:sp>
        <p:nvSpPr>
          <p:cNvPr id="15" name="tarjeta_52"/>
          <p:cNvSpPr/>
          <p:nvPr/>
        </p:nvSpPr>
        <p:spPr>
          <a:xfrm>
            <a:off x="548640" y="37490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6" name="circulo_!_53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931920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Pocas solicitudes en dos semanas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Las pruebas estadísticas pierden potencia.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informa en forma descriptiva y se declara como limitación.</a:t>
            </a:r>
            <a:endParaRPr lang="en-US" sz="1400" dirty="0"/>
          </a:p>
        </p:txBody>
      </p:sp>
      <p:sp>
        <p:nvSpPr>
          <p:cNvPr id="21" name="tarjeta_54"/>
          <p:cNvSpPr/>
          <p:nvPr/>
        </p:nvSpPr>
        <p:spPr>
          <a:xfrm>
            <a:off x="6172200" y="37490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2" name="circulo_!_55"/>
          <p:cNvSpPr/>
          <p:nvPr/>
        </p:nvSpPr>
        <p:spPr>
          <a:xfrm>
            <a:off x="635508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931920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Datos personales de clientes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Riesgo legal y ético.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Consentimiento informado, datos anonimizados, nada personal fuera del equipo (LOPDP).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Lo que necesitamos que usted decida</a:t>
            </a:r>
            <a:endParaRPr lang="en-US" sz="3400" dirty="0"/>
          </a:p>
        </p:txBody>
      </p:sp>
      <p:sp>
        <p:nvSpPr>
          <p:cNvPr id="3" name="circulo_1_56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OE3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28800"/>
            <a:ext cx="44805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¿Acepta precisarlo como «desarrollar un prototipo funcional de los componentes»?</a:t>
            </a:r>
            <a:endParaRPr lang="en-US" sz="1400" dirty="0"/>
          </a:p>
        </p:txBody>
      </p:sp>
      <p:sp>
        <p:nvSpPr>
          <p:cNvPr id="7" name="circulo_2_57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Diseño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828800"/>
            <a:ext cx="44805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¿«Preexperimental», «cuasiexperimental de un solo grupo» o «comparación antes y después en un solo grupo»?</a:t>
            </a:r>
            <a:endParaRPr lang="en-US" sz="1400" dirty="0"/>
          </a:p>
        </p:txBody>
      </p:sp>
      <p:sp>
        <p:nvSpPr>
          <p:cNvPr id="11" name="circulo_3_58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017520"/>
            <a:ext cx="4480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Ética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429000"/>
            <a:ext cx="44805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¿Quién es el responsable del tratamiento de datos (estudiantes o UPS)? ¿Hace falta comité de ética?</a:t>
            </a:r>
            <a:endParaRPr lang="en-US" sz="1400" dirty="0"/>
          </a:p>
        </p:txBody>
      </p:sp>
      <p:sp>
        <p:nvSpPr>
          <p:cNvPr id="15" name="circulo_4_59"/>
          <p:cNvSpPr/>
          <p:nvPr/>
        </p:nvSpPr>
        <p:spPr>
          <a:xfrm>
            <a:off x="621792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017520"/>
            <a:ext cx="4480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Formato UPS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429000"/>
            <a:ext cx="44805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¿Hay instructivo o plantilla vigente? A4 o carta, interlineado, «y» o «&amp;» en APA, persona gramatical, extensión del resumen.</a:t>
            </a:r>
            <a:endParaRPr lang="en-US" sz="1400" dirty="0"/>
          </a:p>
        </p:txBody>
      </p:sp>
      <p:sp>
        <p:nvSpPr>
          <p:cNvPr id="19" name="circulo_5_60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Uso de IA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29200"/>
            <a:ext cx="44805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¿Qué redacción usar en el certificado de autoría, si la IA apoyó búsqueda, planificación y redacción?</a:t>
            </a:r>
            <a:endParaRPr lang="en-US" sz="1400" dirty="0"/>
          </a:p>
        </p:txBody>
      </p:sp>
      <p:sp>
        <p:nvSpPr>
          <p:cNvPr id="23" name="circulo_6_61"/>
          <p:cNvSpPr/>
          <p:nvPr/>
        </p:nvSpPr>
        <p:spPr>
          <a:xfrm>
            <a:off x="621792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Alcance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5029200"/>
            <a:ext cx="44805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¿Un CRM comercial entra en el diseño o se mantiene TEAMSLASH como CRM?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rvesa Revision">
  <a:themeElements>
    <a:clrScheme name="Torvesa Revision">
      <a:dk1>
        <a:srgbClr val="1F2A33"/>
      </a:dk1>
      <a:lt1>
        <a:srgbClr val="FFFFFF"/>
      </a:lt1>
      <a:dk2>
        <a:srgbClr val="3B4A56"/>
      </a:dk2>
      <a:lt2>
        <a:srgbClr val="EEF1F3"/>
      </a:lt2>
      <a:accent1>
        <a:srgbClr val="D9711C"/>
      </a:accent1>
      <a:accent2>
        <a:srgbClr val="2E6F73"/>
      </a:accent2>
      <a:accent3>
        <a:srgbClr val="8A9BA8"/>
      </a:accent3>
      <a:accent4>
        <a:srgbClr val="C0392B"/>
      </a:accent4>
      <a:accent5>
        <a:srgbClr val="F4D9C2"/>
      </a:accent5>
      <a:accent6>
        <a:srgbClr val="D5E6E7"/>
      </a:accent6>
      <a:hlink>
        <a:srgbClr val="2E6F73"/>
      </a:hlink>
      <a:folHlink>
        <a:srgbClr val="3B4A56"/>
      </a:folHlink>
    </a:clrScheme>
    <a:fontScheme name="Torvesa Re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1 · Tesis Torvesa</dc:title>
  <dc:subject>PptxGenJS Presentation</dc:subject>
  <dc:creator>Víctor Segura Heredia · Diego Bermeo Torres</dc:creator>
  <cp:lastModifiedBy>Víctor Segura Heredia · Diego Bermeo Torres</cp:lastModifiedBy>
  <cp:revision>1</cp:revision>
  <dcterms:created xsi:type="dcterms:W3CDTF">2026-10-27T15:20:46Z</dcterms:created>
  <dcterms:modified xsi:type="dcterms:W3CDTF">2026-10-27T15:20:46Z</dcterms:modified>
</cp:coreProperties>
</file>